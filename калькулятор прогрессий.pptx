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6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78816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63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2B497-5106-478D-957A-B9D23CEDCBD4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8F6DEA-D718-4055-9A66-1CEEF2A19B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941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F6DEA-D718-4055-9A66-1CEEF2A19B9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1304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417"/>
            <a:ext cx="17881600" cy="10070818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10365" y="3526650"/>
            <a:ext cx="11391506" cy="2414576"/>
          </a:xfrm>
        </p:spPr>
        <p:txBody>
          <a:bodyPr anchor="b">
            <a:noAutofit/>
          </a:bodyPr>
          <a:lstStyle>
            <a:lvl1pPr algn="r">
              <a:defRPr sz="792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0365" y="5941223"/>
            <a:ext cx="11391506" cy="1608785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705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41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11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823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52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0234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940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364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0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8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47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425" y="3961273"/>
            <a:ext cx="12608446" cy="2678985"/>
          </a:xfrm>
        </p:spPr>
        <p:txBody>
          <a:bodyPr anchor="b"/>
          <a:lstStyle>
            <a:lvl1pPr algn="l">
              <a:defRPr sz="5867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3425" y="6640257"/>
            <a:ext cx="12608446" cy="1261920"/>
          </a:xfrm>
        </p:spPr>
        <p:txBody>
          <a:bodyPr anchor="t"/>
          <a:lstStyle>
            <a:lvl1pPr marL="0" indent="0" algn="l">
              <a:buNone/>
              <a:defRPr sz="29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70575" indent="0">
              <a:buNone/>
              <a:defRPr sz="2640">
                <a:solidFill>
                  <a:schemeClr val="tx1">
                    <a:tint val="75000"/>
                  </a:schemeClr>
                </a:solidFill>
              </a:defRPr>
            </a:lvl2pPr>
            <a:lvl3pPr marL="1341150" indent="0">
              <a:buNone/>
              <a:defRPr sz="2347">
                <a:solidFill>
                  <a:schemeClr val="tx1">
                    <a:tint val="75000"/>
                  </a:schemeClr>
                </a:solidFill>
              </a:defRPr>
            </a:lvl3pPr>
            <a:lvl4pPr marL="2011726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4pPr>
            <a:lvl5pPr marL="2682301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5pPr>
            <a:lvl6pPr marL="3352876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6pPr>
            <a:lvl7pPr marL="4023451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7pPr>
            <a:lvl8pPr marL="4694027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8pPr>
            <a:lvl9pPr marL="5364602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322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3424" y="3168864"/>
            <a:ext cx="6136585" cy="56917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65289" y="3168865"/>
            <a:ext cx="6136583" cy="5691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31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093" y="3169442"/>
            <a:ext cx="6138914" cy="845184"/>
          </a:xfrm>
        </p:spPr>
        <p:txBody>
          <a:bodyPr anchor="b">
            <a:noAutofit/>
          </a:bodyPr>
          <a:lstStyle>
            <a:lvl1pPr marL="0" indent="0">
              <a:buNone/>
              <a:defRPr sz="3520" b="0"/>
            </a:lvl1pPr>
            <a:lvl2pPr marL="670575" indent="0">
              <a:buNone/>
              <a:defRPr sz="2933" b="1"/>
            </a:lvl2pPr>
            <a:lvl3pPr marL="1341150" indent="0">
              <a:buNone/>
              <a:defRPr sz="2640" b="1"/>
            </a:lvl3pPr>
            <a:lvl4pPr marL="2011726" indent="0">
              <a:buNone/>
              <a:defRPr sz="2347" b="1"/>
            </a:lvl4pPr>
            <a:lvl5pPr marL="2682301" indent="0">
              <a:buNone/>
              <a:defRPr sz="2347" b="1"/>
            </a:lvl5pPr>
            <a:lvl6pPr marL="3352876" indent="0">
              <a:buNone/>
              <a:defRPr sz="2347" b="1"/>
            </a:lvl6pPr>
            <a:lvl7pPr marL="4023451" indent="0">
              <a:buNone/>
              <a:defRPr sz="2347" b="1"/>
            </a:lvl7pPr>
            <a:lvl8pPr marL="4694027" indent="0">
              <a:buNone/>
              <a:defRPr sz="2347" b="1"/>
            </a:lvl8pPr>
            <a:lvl9pPr marL="5364602" indent="0">
              <a:buNone/>
              <a:defRPr sz="2347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093" y="4014627"/>
            <a:ext cx="6138914" cy="484603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62962" y="3169442"/>
            <a:ext cx="6138906" cy="845184"/>
          </a:xfrm>
        </p:spPr>
        <p:txBody>
          <a:bodyPr anchor="b">
            <a:noAutofit/>
          </a:bodyPr>
          <a:lstStyle>
            <a:lvl1pPr marL="0" indent="0">
              <a:buNone/>
              <a:defRPr sz="3520" b="0"/>
            </a:lvl1pPr>
            <a:lvl2pPr marL="670575" indent="0">
              <a:buNone/>
              <a:defRPr sz="2933" b="1"/>
            </a:lvl2pPr>
            <a:lvl3pPr marL="1341150" indent="0">
              <a:buNone/>
              <a:defRPr sz="2640" b="1"/>
            </a:lvl3pPr>
            <a:lvl4pPr marL="2011726" indent="0">
              <a:buNone/>
              <a:defRPr sz="2347" b="1"/>
            </a:lvl4pPr>
            <a:lvl5pPr marL="2682301" indent="0">
              <a:buNone/>
              <a:defRPr sz="2347" b="1"/>
            </a:lvl5pPr>
            <a:lvl6pPr marL="3352876" indent="0">
              <a:buNone/>
              <a:defRPr sz="2347" b="1"/>
            </a:lvl6pPr>
            <a:lvl7pPr marL="4023451" indent="0">
              <a:buNone/>
              <a:defRPr sz="2347" b="1"/>
            </a:lvl7pPr>
            <a:lvl8pPr marL="4694027" indent="0">
              <a:buNone/>
              <a:defRPr sz="2347" b="1"/>
            </a:lvl8pPr>
            <a:lvl9pPr marL="5364602" indent="0">
              <a:buNone/>
              <a:defRPr sz="2347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62964" y="4014627"/>
            <a:ext cx="6138905" cy="484603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0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423" y="894080"/>
            <a:ext cx="12608446" cy="193717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37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759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423" y="2197953"/>
            <a:ext cx="5653308" cy="1875083"/>
          </a:xfrm>
        </p:spPr>
        <p:txBody>
          <a:bodyPr anchor="b">
            <a:normAutofit/>
          </a:bodyPr>
          <a:lstStyle>
            <a:lvl1pPr>
              <a:defRPr sz="2933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2010" y="755223"/>
            <a:ext cx="6619860" cy="810544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3423" y="4073035"/>
            <a:ext cx="5653308" cy="3790525"/>
          </a:xfrm>
        </p:spPr>
        <p:txBody>
          <a:bodyPr>
            <a:normAutofit/>
          </a:bodyPr>
          <a:lstStyle>
            <a:lvl1pPr marL="0" indent="0">
              <a:buNone/>
              <a:defRPr sz="2053"/>
            </a:lvl1pPr>
            <a:lvl2pPr marL="670374" indent="0">
              <a:buNone/>
              <a:defRPr sz="2053"/>
            </a:lvl2pPr>
            <a:lvl3pPr marL="1340749" indent="0">
              <a:buNone/>
              <a:defRPr sz="1760"/>
            </a:lvl3pPr>
            <a:lvl4pPr marL="2011123" indent="0">
              <a:buNone/>
              <a:defRPr sz="1467"/>
            </a:lvl4pPr>
            <a:lvl5pPr marL="2681496" indent="0">
              <a:buNone/>
              <a:defRPr sz="1467"/>
            </a:lvl5pPr>
            <a:lvl6pPr marL="3351870" indent="0">
              <a:buNone/>
              <a:defRPr sz="1467"/>
            </a:lvl6pPr>
            <a:lvl7pPr marL="4022244" indent="0">
              <a:buNone/>
              <a:defRPr sz="1467"/>
            </a:lvl7pPr>
            <a:lvl8pPr marL="4692619" indent="0">
              <a:buNone/>
              <a:defRPr sz="1467"/>
            </a:lvl8pPr>
            <a:lvl9pPr marL="5362993" indent="0">
              <a:buNone/>
              <a:defRPr sz="146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370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424" y="7040880"/>
            <a:ext cx="12608445" cy="831216"/>
          </a:xfrm>
        </p:spPr>
        <p:txBody>
          <a:bodyPr anchor="b">
            <a:normAutofit/>
          </a:bodyPr>
          <a:lstStyle>
            <a:lvl1pPr algn="l">
              <a:defRPr sz="352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93423" y="894080"/>
            <a:ext cx="12608446" cy="5640386"/>
          </a:xfrm>
        </p:spPr>
        <p:txBody>
          <a:bodyPr anchor="t">
            <a:normAutofit/>
          </a:bodyPr>
          <a:lstStyle>
            <a:lvl1pPr marL="0" indent="0" algn="ctr">
              <a:buNone/>
              <a:defRPr sz="2347"/>
            </a:lvl1pPr>
            <a:lvl2pPr marL="670575" indent="0">
              <a:buNone/>
              <a:defRPr sz="2347"/>
            </a:lvl2pPr>
            <a:lvl3pPr marL="1341150" indent="0">
              <a:buNone/>
              <a:defRPr sz="2347"/>
            </a:lvl3pPr>
            <a:lvl4pPr marL="2011726" indent="0">
              <a:buNone/>
              <a:defRPr sz="2347"/>
            </a:lvl4pPr>
            <a:lvl5pPr marL="2682301" indent="0">
              <a:buNone/>
              <a:defRPr sz="2347"/>
            </a:lvl5pPr>
            <a:lvl6pPr marL="3352876" indent="0">
              <a:buNone/>
              <a:defRPr sz="2347"/>
            </a:lvl6pPr>
            <a:lvl7pPr marL="4023451" indent="0">
              <a:buNone/>
              <a:defRPr sz="2347"/>
            </a:lvl7pPr>
            <a:lvl8pPr marL="4694027" indent="0">
              <a:buNone/>
              <a:defRPr sz="2347"/>
            </a:lvl8pPr>
            <a:lvl9pPr marL="5364602" indent="0">
              <a:buNone/>
              <a:defRPr sz="2347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3424" y="7872096"/>
            <a:ext cx="12608445" cy="988569"/>
          </a:xfrm>
        </p:spPr>
        <p:txBody>
          <a:bodyPr>
            <a:normAutofit/>
          </a:bodyPr>
          <a:lstStyle>
            <a:lvl1pPr marL="0" indent="0">
              <a:buNone/>
              <a:defRPr sz="1760"/>
            </a:lvl1pPr>
            <a:lvl2pPr marL="670575" indent="0">
              <a:buNone/>
              <a:defRPr sz="1760"/>
            </a:lvl2pPr>
            <a:lvl3pPr marL="1341150" indent="0">
              <a:buNone/>
              <a:defRPr sz="1467"/>
            </a:lvl3pPr>
            <a:lvl4pPr marL="2011726" indent="0">
              <a:buNone/>
              <a:defRPr sz="1320"/>
            </a:lvl4pPr>
            <a:lvl5pPr marL="2682301" indent="0">
              <a:buNone/>
              <a:defRPr sz="1320"/>
            </a:lvl5pPr>
            <a:lvl6pPr marL="3352876" indent="0">
              <a:buNone/>
              <a:defRPr sz="1320"/>
            </a:lvl6pPr>
            <a:lvl7pPr marL="4023451" indent="0">
              <a:buNone/>
              <a:defRPr sz="1320"/>
            </a:lvl7pPr>
            <a:lvl8pPr marL="4694027" indent="0">
              <a:buNone/>
              <a:defRPr sz="1320"/>
            </a:lvl8pPr>
            <a:lvl9pPr marL="5364602" indent="0">
              <a:buNone/>
              <a:defRPr sz="132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489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425" y="894080"/>
            <a:ext cx="12608446" cy="4991947"/>
          </a:xfrm>
        </p:spPr>
        <p:txBody>
          <a:bodyPr anchor="ctr">
            <a:normAutofit/>
          </a:bodyPr>
          <a:lstStyle>
            <a:lvl1pPr algn="l">
              <a:defRPr sz="6453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3425" y="6556586"/>
            <a:ext cx="12608446" cy="2304078"/>
          </a:xfrm>
        </p:spPr>
        <p:txBody>
          <a:bodyPr anchor="ctr">
            <a:normAutofit/>
          </a:bodyPr>
          <a:lstStyle>
            <a:lvl1pPr marL="0" indent="0" algn="l">
              <a:buNone/>
              <a:defRPr sz="26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70575" indent="0">
              <a:buNone/>
              <a:defRPr sz="2640">
                <a:solidFill>
                  <a:schemeClr val="tx1">
                    <a:tint val="75000"/>
                  </a:schemeClr>
                </a:solidFill>
              </a:defRPr>
            </a:lvl2pPr>
            <a:lvl3pPr marL="1341150" indent="0">
              <a:buNone/>
              <a:defRPr sz="2347">
                <a:solidFill>
                  <a:schemeClr val="tx1">
                    <a:tint val="75000"/>
                  </a:schemeClr>
                </a:solidFill>
              </a:defRPr>
            </a:lvl3pPr>
            <a:lvl4pPr marL="2011726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4pPr>
            <a:lvl5pPr marL="2682301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5pPr>
            <a:lvl6pPr marL="3352876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6pPr>
            <a:lvl7pPr marL="4023451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7pPr>
            <a:lvl8pPr marL="4694027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8pPr>
            <a:lvl9pPr marL="5364602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279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956" y="894080"/>
            <a:ext cx="11871397" cy="4433147"/>
          </a:xfrm>
        </p:spPr>
        <p:txBody>
          <a:bodyPr anchor="ctr">
            <a:normAutofit/>
          </a:bodyPr>
          <a:lstStyle>
            <a:lvl1pPr algn="l">
              <a:defRPr sz="6453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03670" y="5327227"/>
            <a:ext cx="10595969" cy="5588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34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70575" indent="0">
              <a:buFontTx/>
              <a:buNone/>
              <a:defRPr/>
            </a:lvl2pPr>
            <a:lvl3pPr marL="1341150" indent="0">
              <a:buFontTx/>
              <a:buNone/>
              <a:defRPr/>
            </a:lvl3pPr>
            <a:lvl4pPr marL="2011726" indent="0">
              <a:buFontTx/>
              <a:buNone/>
              <a:defRPr/>
            </a:lvl4pPr>
            <a:lvl5pPr marL="2682301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3425" y="6556586"/>
            <a:ext cx="12608446" cy="2304078"/>
          </a:xfrm>
        </p:spPr>
        <p:txBody>
          <a:bodyPr anchor="ctr">
            <a:normAutofit/>
          </a:bodyPr>
          <a:lstStyle>
            <a:lvl1pPr marL="0" indent="0" algn="l">
              <a:buNone/>
              <a:defRPr sz="26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70575" indent="0">
              <a:buNone/>
              <a:defRPr sz="2640">
                <a:solidFill>
                  <a:schemeClr val="tx1">
                    <a:tint val="75000"/>
                  </a:schemeClr>
                </a:solidFill>
              </a:defRPr>
            </a:lvl2pPr>
            <a:lvl3pPr marL="1341150" indent="0">
              <a:buNone/>
              <a:defRPr sz="2347">
                <a:solidFill>
                  <a:schemeClr val="tx1">
                    <a:tint val="75000"/>
                  </a:schemeClr>
                </a:solidFill>
              </a:defRPr>
            </a:lvl3pPr>
            <a:lvl4pPr marL="2011726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4pPr>
            <a:lvl5pPr marL="2682301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5pPr>
            <a:lvl6pPr marL="3352876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6pPr>
            <a:lvl7pPr marL="4023451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7pPr>
            <a:lvl8pPr marL="4694027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8pPr>
            <a:lvl9pPr marL="5364602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794743" y="1159221"/>
            <a:ext cx="894080" cy="857671"/>
          </a:xfrm>
          <a:prstGeom prst="rect">
            <a:avLst/>
          </a:prstGeom>
        </p:spPr>
        <p:txBody>
          <a:bodyPr vert="horz" lIns="134112" tIns="67056" rIns="134112" bIns="67056" rtlCol="0" anchor="ctr">
            <a:noAutofit/>
          </a:bodyPr>
          <a:lstStyle/>
          <a:p>
            <a:pPr lvl="0"/>
            <a:r>
              <a:rPr lang="en-US" sz="11734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43083" y="4233616"/>
            <a:ext cx="894080" cy="857671"/>
          </a:xfrm>
          <a:prstGeom prst="rect">
            <a:avLst/>
          </a:prstGeom>
        </p:spPr>
        <p:txBody>
          <a:bodyPr vert="horz" lIns="134112" tIns="67056" rIns="134112" bIns="67056" rtlCol="0" anchor="ctr">
            <a:noAutofit/>
          </a:bodyPr>
          <a:lstStyle/>
          <a:p>
            <a:pPr lvl="0"/>
            <a:r>
              <a:rPr lang="en-US" sz="11734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64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3485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425" y="2833582"/>
            <a:ext cx="12608446" cy="3806675"/>
          </a:xfrm>
        </p:spPr>
        <p:txBody>
          <a:bodyPr anchor="b">
            <a:normAutofit/>
          </a:bodyPr>
          <a:lstStyle>
            <a:lvl1pPr algn="l">
              <a:defRPr sz="6453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3425" y="6640257"/>
            <a:ext cx="12608446" cy="2220407"/>
          </a:xfrm>
        </p:spPr>
        <p:txBody>
          <a:bodyPr anchor="t">
            <a:normAutofit/>
          </a:bodyPr>
          <a:lstStyle>
            <a:lvl1pPr marL="0" indent="0" algn="l">
              <a:buNone/>
              <a:defRPr sz="26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70575" indent="0">
              <a:buNone/>
              <a:defRPr sz="2640">
                <a:solidFill>
                  <a:schemeClr val="tx1">
                    <a:tint val="75000"/>
                  </a:schemeClr>
                </a:solidFill>
              </a:defRPr>
            </a:lvl2pPr>
            <a:lvl3pPr marL="1341150" indent="0">
              <a:buNone/>
              <a:defRPr sz="2347">
                <a:solidFill>
                  <a:schemeClr val="tx1">
                    <a:tint val="75000"/>
                  </a:schemeClr>
                </a:solidFill>
              </a:defRPr>
            </a:lvl3pPr>
            <a:lvl4pPr marL="2011726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4pPr>
            <a:lvl5pPr marL="2682301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5pPr>
            <a:lvl6pPr marL="3352876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6pPr>
            <a:lvl7pPr marL="4023451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7pPr>
            <a:lvl8pPr marL="4694027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8pPr>
            <a:lvl9pPr marL="5364602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123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956" y="894080"/>
            <a:ext cx="11871397" cy="4433147"/>
          </a:xfrm>
        </p:spPr>
        <p:txBody>
          <a:bodyPr anchor="ctr">
            <a:normAutofit/>
          </a:bodyPr>
          <a:lstStyle>
            <a:lvl1pPr algn="l">
              <a:defRPr sz="6453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93421" y="5886027"/>
            <a:ext cx="12608448" cy="75423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52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70575" indent="0">
              <a:buFontTx/>
              <a:buNone/>
              <a:defRPr/>
            </a:lvl2pPr>
            <a:lvl3pPr marL="1341150" indent="0">
              <a:buFontTx/>
              <a:buNone/>
              <a:defRPr/>
            </a:lvl3pPr>
            <a:lvl4pPr marL="2011726" indent="0">
              <a:buFontTx/>
              <a:buNone/>
              <a:defRPr/>
            </a:lvl4pPr>
            <a:lvl5pPr marL="2682301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3425" y="6640257"/>
            <a:ext cx="12608446" cy="2220407"/>
          </a:xfrm>
        </p:spPr>
        <p:txBody>
          <a:bodyPr anchor="t">
            <a:normAutofit/>
          </a:bodyPr>
          <a:lstStyle>
            <a:lvl1pPr marL="0" indent="0" algn="l">
              <a:buNone/>
              <a:defRPr sz="264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70575" indent="0">
              <a:buNone/>
              <a:defRPr sz="2640">
                <a:solidFill>
                  <a:schemeClr val="tx1">
                    <a:tint val="75000"/>
                  </a:schemeClr>
                </a:solidFill>
              </a:defRPr>
            </a:lvl2pPr>
            <a:lvl3pPr marL="1341150" indent="0">
              <a:buNone/>
              <a:defRPr sz="2347">
                <a:solidFill>
                  <a:schemeClr val="tx1">
                    <a:tint val="75000"/>
                  </a:schemeClr>
                </a:solidFill>
              </a:defRPr>
            </a:lvl3pPr>
            <a:lvl4pPr marL="2011726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4pPr>
            <a:lvl5pPr marL="2682301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5pPr>
            <a:lvl6pPr marL="3352876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6pPr>
            <a:lvl7pPr marL="4023451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7pPr>
            <a:lvl8pPr marL="4694027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8pPr>
            <a:lvl9pPr marL="5364602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794743" y="1159221"/>
            <a:ext cx="894080" cy="857671"/>
          </a:xfrm>
          <a:prstGeom prst="rect">
            <a:avLst/>
          </a:prstGeom>
        </p:spPr>
        <p:txBody>
          <a:bodyPr vert="horz" lIns="134112" tIns="67056" rIns="134112" bIns="67056" rtlCol="0" anchor="ctr">
            <a:noAutofit/>
          </a:bodyPr>
          <a:lstStyle/>
          <a:p>
            <a:pPr lvl="0"/>
            <a:r>
              <a:rPr lang="en-US" sz="11734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43083" y="4233616"/>
            <a:ext cx="894080" cy="857671"/>
          </a:xfrm>
          <a:prstGeom prst="rect">
            <a:avLst/>
          </a:prstGeom>
        </p:spPr>
        <p:txBody>
          <a:bodyPr vert="horz" lIns="134112" tIns="67056" rIns="134112" bIns="67056" rtlCol="0" anchor="ctr">
            <a:noAutofit/>
          </a:bodyPr>
          <a:lstStyle/>
          <a:p>
            <a:pPr lvl="0"/>
            <a:r>
              <a:rPr lang="en-US" sz="11734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1662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839" y="894080"/>
            <a:ext cx="12596031" cy="4433147"/>
          </a:xfrm>
        </p:spPr>
        <p:txBody>
          <a:bodyPr anchor="ctr">
            <a:normAutofit/>
          </a:bodyPr>
          <a:lstStyle>
            <a:lvl1pPr algn="l">
              <a:defRPr sz="6453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93421" y="5886027"/>
            <a:ext cx="12608448" cy="75423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520">
                <a:solidFill>
                  <a:schemeClr val="accent1"/>
                </a:solidFill>
              </a:defRPr>
            </a:lvl1pPr>
            <a:lvl2pPr marL="670575" indent="0">
              <a:buFontTx/>
              <a:buNone/>
              <a:defRPr/>
            </a:lvl2pPr>
            <a:lvl3pPr marL="1341150" indent="0">
              <a:buFontTx/>
              <a:buNone/>
              <a:defRPr/>
            </a:lvl3pPr>
            <a:lvl4pPr marL="2011726" indent="0">
              <a:buFontTx/>
              <a:buNone/>
              <a:defRPr/>
            </a:lvl4pPr>
            <a:lvl5pPr marL="2682301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3425" y="6640257"/>
            <a:ext cx="12608446" cy="2220407"/>
          </a:xfrm>
        </p:spPr>
        <p:txBody>
          <a:bodyPr anchor="t">
            <a:normAutofit/>
          </a:bodyPr>
          <a:lstStyle>
            <a:lvl1pPr marL="0" indent="0" algn="l">
              <a:buNone/>
              <a:defRPr sz="264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70575" indent="0">
              <a:buNone/>
              <a:defRPr sz="2640">
                <a:solidFill>
                  <a:schemeClr val="tx1">
                    <a:tint val="75000"/>
                  </a:schemeClr>
                </a:solidFill>
              </a:defRPr>
            </a:lvl2pPr>
            <a:lvl3pPr marL="1341150" indent="0">
              <a:buNone/>
              <a:defRPr sz="2347">
                <a:solidFill>
                  <a:schemeClr val="tx1">
                    <a:tint val="75000"/>
                  </a:schemeClr>
                </a:solidFill>
              </a:defRPr>
            </a:lvl3pPr>
            <a:lvl4pPr marL="2011726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4pPr>
            <a:lvl5pPr marL="2682301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5pPr>
            <a:lvl6pPr marL="3352876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6pPr>
            <a:lvl7pPr marL="4023451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7pPr>
            <a:lvl8pPr marL="4694027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8pPr>
            <a:lvl9pPr marL="5364602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283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746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85921" y="894079"/>
            <a:ext cx="1913623" cy="7702128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3425" y="894080"/>
            <a:ext cx="10354887" cy="770212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834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32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417"/>
            <a:ext cx="17881600" cy="10070818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3423" y="894080"/>
            <a:ext cx="12608446" cy="19371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3423" y="3168865"/>
            <a:ext cx="12608446" cy="5691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567529" y="8860665"/>
            <a:ext cx="1337511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3423" y="8860665"/>
            <a:ext cx="9236498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599640" y="8860665"/>
            <a:ext cx="1002231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204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</p:sldLayoutIdLst>
  <p:txStyles>
    <p:titleStyle>
      <a:lvl1pPr algn="l" defTabSz="670575" rtl="0" eaLnBrk="1" latinLnBrk="0" hangingPunct="1">
        <a:spcBef>
          <a:spcPct val="0"/>
        </a:spcBef>
        <a:buNone/>
        <a:defRPr sz="528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02931" indent="-502931" algn="l" defTabSz="670575" rtl="0" eaLnBrk="1" latinLnBrk="0" hangingPunct="1">
        <a:spcBef>
          <a:spcPts val="146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6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089685" indent="-419110" algn="l" defTabSz="670575" rtl="0" eaLnBrk="1" latinLnBrk="0" hangingPunct="1">
        <a:spcBef>
          <a:spcPts val="146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34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676438" indent="-335288" algn="l" defTabSz="670575" rtl="0" eaLnBrk="1" latinLnBrk="0" hangingPunct="1">
        <a:spcBef>
          <a:spcPts val="146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5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347013" indent="-335288" algn="l" defTabSz="670575" rtl="0" eaLnBrk="1" latinLnBrk="0" hangingPunct="1">
        <a:spcBef>
          <a:spcPts val="146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17589" indent="-335288" algn="l" defTabSz="670575" rtl="0" eaLnBrk="1" latinLnBrk="0" hangingPunct="1">
        <a:spcBef>
          <a:spcPts val="146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688164" indent="-335288" algn="l" defTabSz="670575" rtl="0" eaLnBrk="1" latinLnBrk="0" hangingPunct="1">
        <a:spcBef>
          <a:spcPts val="146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358739" indent="-335288" algn="l" defTabSz="670575" rtl="0" eaLnBrk="1" latinLnBrk="0" hangingPunct="1">
        <a:spcBef>
          <a:spcPts val="146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029314" indent="-335288" algn="l" defTabSz="670575" rtl="0" eaLnBrk="1" latinLnBrk="0" hangingPunct="1">
        <a:spcBef>
          <a:spcPts val="146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699890" indent="-335288" algn="l" defTabSz="670575" rtl="0" eaLnBrk="1" latinLnBrk="0" hangingPunct="1">
        <a:spcBef>
          <a:spcPts val="146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75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670575" algn="l" defTabSz="670575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341150" algn="l" defTabSz="670575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3pPr>
      <a:lvl4pPr marL="2011726" algn="l" defTabSz="670575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2682301" algn="l" defTabSz="670575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76" algn="l" defTabSz="670575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023451" algn="l" defTabSz="670575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4694027" algn="l" defTabSz="670575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364602" algn="l" defTabSz="670575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apeks/Progression-calculator" TargetMode="Externa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apeks/Pnognession-calculaton" TargetMode="Externa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46872" y="242329"/>
            <a:ext cx="13770763" cy="157519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algn="ctr">
              <a:spcAft>
                <a:spcPts val="4832"/>
              </a:spcAft>
            </a:pPr>
            <a:r>
              <a:rPr lang="ru" sz="6400" b="1" dirty="0">
                <a:solidFill>
                  <a:srgbClr val="4F81BD"/>
                </a:solidFill>
                <a:latin typeface="Calibri"/>
              </a:rPr>
              <a:t>Калькулятор числовых прогрессий</a:t>
            </a:r>
            <a:endParaRPr lang="en-US" sz="6400" b="1" dirty="0">
              <a:solidFill>
                <a:srgbClr val="345A8A"/>
              </a:solidFill>
              <a:latin typeface="Calibri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314561" y="3044644"/>
            <a:ext cx="15252478" cy="396911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spcBef>
                <a:spcPts val="4832"/>
              </a:spcBef>
              <a:spcAft>
                <a:spcPts val="2416"/>
              </a:spcAft>
            </a:pPr>
            <a:r>
              <a:rPr lang="ru" sz="3600" b="1" dirty="0">
                <a:solidFill>
                  <a:srgbClr val="4F81BD"/>
                </a:solidFill>
                <a:latin typeface="Calibri"/>
              </a:rPr>
              <a:t>Презентация проекта: Калькулятор числовых прогрессий</a:t>
            </a:r>
          </a:p>
          <a:p>
            <a:pPr>
              <a:lnSpc>
                <a:spcPts val="3257"/>
              </a:lnSpc>
              <a:spcAft>
                <a:spcPts val="967"/>
              </a:spcAft>
            </a:pPr>
            <a:r>
              <a:rPr lang="ru" sz="3600" b="1" dirty="0">
                <a:latin typeface="Cambria"/>
              </a:rPr>
              <a:t>Интерактивный инструмент для вычисления и визуализации числовых последовательностей</a:t>
            </a:r>
          </a:p>
          <a:p>
            <a:pPr marL="409007" algn="just">
              <a:lnSpc>
                <a:spcPts val="3644"/>
              </a:lnSpc>
            </a:pPr>
            <a:r>
              <a:rPr lang="ru" sz="3600" dirty="0">
                <a:latin typeface="Cambria"/>
              </a:rPr>
              <a:t>•</a:t>
            </a:r>
            <a:r>
              <a:rPr lang="ru" sz="3600" b="1" dirty="0">
                <a:latin typeface="Cambria"/>
              </a:rPr>
              <a:t>    Автор проекта: </a:t>
            </a:r>
            <a:r>
              <a:rPr lang="ru" sz="3600" dirty="0">
                <a:latin typeface="Cambria"/>
              </a:rPr>
              <a:t>Иванов Тимофей</a:t>
            </a:r>
          </a:p>
          <a:p>
            <a:pPr marL="409007" algn="just">
              <a:lnSpc>
                <a:spcPts val="3644"/>
              </a:lnSpc>
            </a:pPr>
            <a:r>
              <a:rPr lang="ru" sz="3600" dirty="0">
                <a:latin typeface="Cambria"/>
              </a:rPr>
              <a:t>•</a:t>
            </a:r>
            <a:r>
              <a:rPr lang="ru" sz="3600" b="1" dirty="0">
                <a:latin typeface="Cambria"/>
              </a:rPr>
              <a:t>    Предметная область: </a:t>
            </a:r>
            <a:r>
              <a:rPr lang="ru" sz="3600" dirty="0">
                <a:latin typeface="Cambria"/>
              </a:rPr>
              <a:t>Алгебра и информатика</a:t>
            </a:r>
          </a:p>
          <a:p>
            <a:pPr marL="409007" algn="just">
              <a:lnSpc>
                <a:spcPts val="3644"/>
              </a:lnSpc>
            </a:pPr>
            <a:r>
              <a:rPr lang="ru" sz="3600" dirty="0">
                <a:latin typeface="Cambria"/>
              </a:rPr>
              <a:t>•</a:t>
            </a:r>
            <a:r>
              <a:rPr lang="ru" sz="3600" b="1" dirty="0">
                <a:latin typeface="Cambria"/>
              </a:rPr>
              <a:t>    Репозиторий проекта:</a:t>
            </a:r>
            <a:r>
              <a:rPr lang="ru" sz="3600" b="1" dirty="0">
                <a:latin typeface="Cambria"/>
                <a:hlinkClick r:id="rId2"/>
              </a:rPr>
              <a:t> </a:t>
            </a:r>
            <a:r>
              <a:rPr lang="en-US" sz="3600" dirty="0">
                <a:solidFill>
                  <a:srgbClr val="4F81BD"/>
                </a:solidFill>
                <a:latin typeface="Cambria"/>
                <a:hlinkClick r:id="rId2"/>
              </a:rPr>
              <a:t>github.com/tapeks/Progression-calculator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543295" y="283436"/>
            <a:ext cx="6163893" cy="44879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algn="ctr">
              <a:spcAft>
                <a:spcPts val="1932"/>
              </a:spcAft>
            </a:pPr>
            <a:r>
              <a:rPr lang="ru" sz="3221" b="1" dirty="0">
                <a:solidFill>
                  <a:srgbClr val="4F81BD"/>
                </a:solidFill>
                <a:latin typeface="Calibri"/>
              </a:rPr>
              <a:t>Введение и актуальность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966976" y="1756982"/>
            <a:ext cx="13947648" cy="654443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ts val="3203"/>
              </a:lnSpc>
              <a:spcBef>
                <a:spcPts val="1932"/>
              </a:spcBef>
              <a:spcAft>
                <a:spcPts val="967"/>
              </a:spcAft>
            </a:pPr>
            <a:r>
              <a:rPr lang="ru" sz="2761" dirty="0">
                <a:latin typeface="Cambria"/>
              </a:rPr>
              <a:t>Тема числовых последовательностей и прогрессий является фундаментальной в курсе школьной алгебры, а также регулярно встречается в заданиях ОГЭ и ЕГЭ. Кроме того, закономерности прогрессий лежат в основе реальных процессов: сложных банковских процентов, расчёта кредитов и моделирования роста величин.</a:t>
            </a:r>
          </a:p>
          <a:p>
            <a:pPr>
              <a:spcAft>
                <a:spcPts val="967"/>
              </a:spcAft>
            </a:pPr>
            <a:r>
              <a:rPr lang="ru" sz="2761" b="1" dirty="0">
                <a:solidFill>
                  <a:srgbClr val="4F81BD"/>
                </a:solidFill>
                <a:latin typeface="Calibri"/>
              </a:rPr>
              <a:t>Проблематика:</a:t>
            </a:r>
          </a:p>
          <a:p>
            <a:pPr marL="1110166" indent="-701157">
              <a:lnSpc>
                <a:spcPts val="3257"/>
              </a:lnSpc>
            </a:pPr>
            <a:r>
              <a:rPr lang="ru" sz="2761" dirty="0">
                <a:latin typeface="Cambria"/>
              </a:rPr>
              <a:t>•</a:t>
            </a:r>
            <a:r>
              <a:rPr lang="ru" sz="2761" b="1" dirty="0">
                <a:latin typeface="Cambria"/>
              </a:rPr>
              <a:t>    Высокий риск вычислительных ошибок: </a:t>
            </a:r>
            <a:r>
              <a:rPr lang="ru" sz="2761" dirty="0">
                <a:latin typeface="Cambria"/>
              </a:rPr>
              <a:t>при ручном расчёте длинных рядов чисел легко допустить случайную арифметическую ошибку.</a:t>
            </a:r>
          </a:p>
          <a:p>
            <a:pPr marL="1110166" indent="-701157">
              <a:lnSpc>
                <a:spcPts val="3257"/>
              </a:lnSpc>
            </a:pPr>
            <a:r>
              <a:rPr lang="ru" sz="2761" dirty="0">
                <a:latin typeface="Cambria"/>
              </a:rPr>
              <a:t>•</a:t>
            </a:r>
            <a:r>
              <a:rPr lang="ru" sz="2761" b="1" dirty="0">
                <a:latin typeface="Cambria"/>
              </a:rPr>
              <a:t>    Неэффективная трата времени: </a:t>
            </a:r>
            <a:r>
              <a:rPr lang="ru" sz="2761" dirty="0">
                <a:latin typeface="Cambria"/>
              </a:rPr>
              <a:t>рутинное сложение десятков элементов отвлекает от сути задачи.</a:t>
            </a:r>
          </a:p>
          <a:p>
            <a:pPr marL="1110166" indent="-701157">
              <a:lnSpc>
                <a:spcPts val="3203"/>
              </a:lnSpc>
              <a:spcAft>
                <a:spcPts val="967"/>
              </a:spcAft>
            </a:pPr>
            <a:r>
              <a:rPr lang="ru" sz="2761" dirty="0">
                <a:latin typeface="Cambria"/>
              </a:rPr>
              <a:t>•</a:t>
            </a:r>
            <a:r>
              <a:rPr lang="ru" sz="2761" b="1" dirty="0">
                <a:latin typeface="Cambria"/>
              </a:rPr>
              <a:t>    Сложность самопроверки: </a:t>
            </a:r>
            <a:r>
              <a:rPr lang="ru" sz="2761" dirty="0">
                <a:latin typeface="Cambria"/>
              </a:rPr>
              <a:t>учащимся сложно оперативно проверить правильность полученного ответа.</a:t>
            </a:r>
          </a:p>
          <a:p>
            <a:pPr>
              <a:spcAft>
                <a:spcPts val="1932"/>
              </a:spcAft>
            </a:pPr>
            <a:r>
              <a:rPr lang="ru" sz="2761" b="1" dirty="0">
                <a:solidFill>
                  <a:srgbClr val="4F81BD"/>
                </a:solidFill>
                <a:latin typeface="Calibri"/>
              </a:rPr>
              <a:t>Цель проекта:</a:t>
            </a:r>
          </a:p>
          <a:p>
            <a:pPr>
              <a:lnSpc>
                <a:spcPts val="3257"/>
              </a:lnSpc>
              <a:spcAft>
                <a:spcPts val="967"/>
              </a:spcAft>
            </a:pPr>
            <a:r>
              <a:rPr lang="ru" sz="2761" dirty="0">
                <a:latin typeface="Cambria"/>
              </a:rPr>
              <a:t>Разработка наглядного, автономного и открытого приложения для мгновенного расчёта элементов и сумм числовых прогрессий.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77643" y="168299"/>
            <a:ext cx="14059847" cy="100584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just">
              <a:spcAft>
                <a:spcPts val="1932"/>
              </a:spcAft>
            </a:pPr>
            <a:r>
              <a:rPr lang="ru" sz="3221" b="1" dirty="0">
                <a:solidFill>
                  <a:srgbClr val="4F81BD"/>
                </a:solidFill>
                <a:latin typeface="Calibri"/>
              </a:rPr>
              <a:t>Математический аппарат проекта</a:t>
            </a:r>
          </a:p>
          <a:p>
            <a:pPr>
              <a:lnSpc>
                <a:spcPts val="3203"/>
              </a:lnSpc>
              <a:spcAft>
                <a:spcPts val="967"/>
              </a:spcAft>
            </a:pPr>
            <a:r>
              <a:rPr lang="ru" sz="2761" dirty="0">
                <a:latin typeface="Cambria"/>
              </a:rPr>
              <a:t>В основу вычислительного модуля программы заложены классические алгебраические закономерности двух базовых типов прогрессий.</a:t>
            </a:r>
          </a:p>
          <a:p>
            <a:pPr algn="just">
              <a:spcAft>
                <a:spcPts val="1932"/>
              </a:spcAft>
            </a:pPr>
            <a:r>
              <a:rPr lang="ru" sz="2761" b="1" dirty="0">
                <a:solidFill>
                  <a:srgbClr val="4F81BD"/>
                </a:solidFill>
                <a:latin typeface="Calibri"/>
              </a:rPr>
              <a:t>1.</a:t>
            </a:r>
            <a:r>
              <a:rPr lang="ru" sz="2761" b="1" dirty="0">
                <a:latin typeface="Calibri"/>
              </a:rPr>
              <a:t> </a:t>
            </a:r>
            <a:r>
              <a:rPr lang="ru" sz="2761" b="1" dirty="0">
                <a:solidFill>
                  <a:srgbClr val="4F81BD"/>
                </a:solidFill>
                <a:latin typeface="Calibri"/>
              </a:rPr>
              <a:t>Арифметическая прогрессия</a:t>
            </a:r>
          </a:p>
          <a:p>
            <a:pPr>
              <a:lnSpc>
                <a:spcPts val="3257"/>
              </a:lnSpc>
              <a:spcAft>
                <a:spcPts val="967"/>
              </a:spcAft>
            </a:pPr>
            <a:r>
              <a:rPr lang="ru" sz="2761" dirty="0">
                <a:latin typeface="Cambria"/>
              </a:rPr>
              <a:t>Последовательность, в которой каждое следующее число образуется путём прибавления постоянного шага (разности </a:t>
            </a:r>
            <a:r>
              <a:rPr lang="en-US" sz="2761" i="1" dirty="0">
                <a:latin typeface="Cambria"/>
              </a:rPr>
              <a:t>d):</a:t>
            </a:r>
          </a:p>
          <a:p>
            <a:pPr algn="ctr">
              <a:spcBef>
                <a:spcPts val="2899"/>
              </a:spcBef>
              <a:spcAft>
                <a:spcPts val="967"/>
              </a:spcAft>
            </a:pPr>
            <a:r>
              <a:rPr lang="ru" sz="2761" dirty="0">
                <a:latin typeface="Cambria"/>
              </a:rPr>
              <a:t>• Формула </a:t>
            </a:r>
            <a:r>
              <a:rPr lang="en-US" sz="2761" dirty="0">
                <a:latin typeface="Cambria"/>
              </a:rPr>
              <a:t>n</a:t>
            </a:r>
            <a:r>
              <a:rPr lang="ru" sz="2761" dirty="0">
                <a:latin typeface="Cambria"/>
              </a:rPr>
              <a:t>-го члена:</a:t>
            </a:r>
            <a:r>
              <a:rPr lang="en-US" sz="2761" dirty="0">
                <a:latin typeface="Cambria"/>
              </a:rPr>
              <a:t>						</a:t>
            </a:r>
            <a:endParaRPr lang="ru" sz="2761" dirty="0">
              <a:latin typeface="Cambria"/>
            </a:endParaRPr>
          </a:p>
          <a:p>
            <a:pPr algn="ctr">
              <a:spcBef>
                <a:spcPts val="2899"/>
              </a:spcBef>
            </a:pPr>
            <a:r>
              <a:rPr lang="ru" sz="2761" dirty="0">
                <a:latin typeface="Cambria"/>
              </a:rPr>
              <a:t>• Формула суммы первых </a:t>
            </a:r>
            <a:r>
              <a:rPr lang="ru" sz="2761" i="1" dirty="0">
                <a:latin typeface="Cambria"/>
              </a:rPr>
              <a:t>п</a:t>
            </a:r>
            <a:r>
              <a:rPr lang="ru" sz="2761" dirty="0">
                <a:latin typeface="Cambria"/>
              </a:rPr>
              <a:t> членов:</a:t>
            </a:r>
          </a:p>
          <a:p>
            <a:pPr algn="ctr">
              <a:spcBef>
                <a:spcPts val="2899"/>
              </a:spcBef>
            </a:pPr>
            <a:endParaRPr lang="ru" sz="2761" dirty="0">
              <a:latin typeface="Cambria"/>
            </a:endParaRPr>
          </a:p>
          <a:p>
            <a:pPr marL="5229464" algn="just">
              <a:spcAft>
                <a:spcPts val="2899"/>
              </a:spcAft>
            </a:pPr>
            <a:r>
              <a:rPr lang="ru-RU" sz="2761" i="1" dirty="0">
                <a:latin typeface="Cambria"/>
              </a:rPr>
              <a:t>			</a:t>
            </a:r>
            <a:endParaRPr lang="ru" sz="2761" i="1" dirty="0">
              <a:latin typeface="Cambria"/>
            </a:endParaRPr>
          </a:p>
          <a:p>
            <a:pPr marL="5229464" algn="just">
              <a:spcAft>
                <a:spcPts val="2899"/>
              </a:spcAft>
            </a:pPr>
            <a:r>
              <a:rPr lang="ru" sz="2761" b="1" dirty="0">
                <a:solidFill>
                  <a:srgbClr val="4F81BD"/>
                </a:solidFill>
                <a:latin typeface="Calibri"/>
              </a:rPr>
              <a:t>2.</a:t>
            </a:r>
            <a:r>
              <a:rPr lang="ru" sz="2761" b="1" dirty="0">
                <a:latin typeface="Calibri"/>
              </a:rPr>
              <a:t> </a:t>
            </a:r>
            <a:r>
              <a:rPr lang="ru" sz="2761" b="1" dirty="0">
                <a:solidFill>
                  <a:srgbClr val="4F81BD"/>
                </a:solidFill>
                <a:latin typeface="Calibri"/>
              </a:rPr>
              <a:t>Геометрическая прогрессия</a:t>
            </a:r>
          </a:p>
          <a:p>
            <a:pPr>
              <a:lnSpc>
                <a:spcPts val="3203"/>
              </a:lnSpc>
              <a:spcAft>
                <a:spcPts val="967"/>
              </a:spcAft>
            </a:pPr>
            <a:r>
              <a:rPr lang="ru" sz="2761" dirty="0">
                <a:latin typeface="Cambria"/>
              </a:rPr>
              <a:t>Последовательность, в которой каждый последующий член получается путём умножения на постоянный множитель (знаменатель </a:t>
            </a:r>
            <a:r>
              <a:rPr lang="en-US" sz="2761" i="1" dirty="0">
                <a:latin typeface="Cambria"/>
              </a:rPr>
              <a:t>q</a:t>
            </a:r>
            <a:r>
              <a:rPr lang="ru" sz="2761" dirty="0">
                <a:latin typeface="Cambria"/>
              </a:rPr>
              <a:t>):</a:t>
            </a:r>
          </a:p>
          <a:p>
            <a:pPr algn="ctr">
              <a:lnSpc>
                <a:spcPts val="3203"/>
              </a:lnSpc>
              <a:spcAft>
                <a:spcPts val="967"/>
              </a:spcAft>
            </a:pPr>
            <a:r>
              <a:rPr lang="ru" sz="2761" dirty="0">
                <a:latin typeface="Cambria"/>
              </a:rPr>
              <a:t>•    Формула </a:t>
            </a:r>
            <a:r>
              <a:rPr lang="en-US" sz="2761" dirty="0">
                <a:latin typeface="Cambria"/>
              </a:rPr>
              <a:t>n</a:t>
            </a:r>
            <a:r>
              <a:rPr lang="ru" sz="2761" dirty="0">
                <a:latin typeface="Cambria"/>
              </a:rPr>
              <a:t>-го члена:</a:t>
            </a:r>
            <a:endParaRPr lang="ru" sz="2761" baseline="30000" dirty="0">
              <a:latin typeface="Cambria"/>
            </a:endParaRPr>
          </a:p>
          <a:p>
            <a:r>
              <a:rPr lang="ru" sz="2761" dirty="0">
                <a:latin typeface="Cambria"/>
              </a:rPr>
              <a:t>				Формула суммы первых </a:t>
            </a:r>
            <a:r>
              <a:rPr lang="ru" sz="2761" i="1" dirty="0">
                <a:latin typeface="Cambria"/>
              </a:rPr>
              <a:t>п</a:t>
            </a:r>
            <a:r>
              <a:rPr lang="ru" sz="2761" dirty="0">
                <a:latin typeface="Cambria"/>
              </a:rPr>
              <a:t> членов:</a:t>
            </a:r>
          </a:p>
          <a:p>
            <a:pPr marL="409007" algn="just">
              <a:spcAft>
                <a:spcPts val="2899"/>
              </a:spcAft>
            </a:pPr>
            <a:endParaRPr lang="ru" sz="2761" dirty="0">
              <a:latin typeface="Cambria"/>
            </a:endParaRPr>
          </a:p>
          <a:p>
            <a:pPr marL="5229464" algn="just">
              <a:spcAft>
                <a:spcPts val="2899"/>
              </a:spcAft>
            </a:pPr>
            <a:endParaRPr lang="ru" sz="2761" i="1" dirty="0">
              <a:latin typeface="Cambria"/>
            </a:endParaRPr>
          </a:p>
          <a:p>
            <a:pPr marL="5229464" algn="just">
              <a:spcAft>
                <a:spcPts val="2899"/>
              </a:spcAft>
            </a:pPr>
            <a:endParaRPr lang="ru" sz="2761" i="1" dirty="0">
              <a:latin typeface="Cambria"/>
            </a:endParaRPr>
          </a:p>
          <a:p>
            <a:pPr algn="just">
              <a:spcAft>
                <a:spcPts val="2899"/>
              </a:spcAft>
            </a:pPr>
            <a:endParaRPr lang="ru" sz="2761" dirty="0">
              <a:latin typeface="Cambria"/>
            </a:endParaRPr>
          </a:p>
          <a:p>
            <a:pPr marL="394985" algn="just">
              <a:spcAft>
                <a:spcPts val="2899"/>
              </a:spcAft>
            </a:pPr>
            <a:endParaRPr lang="ru" sz="2761" dirty="0">
              <a:latin typeface="Cambr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FB0092-2677-49DE-80C6-232F84BB01D8}"/>
                  </a:ext>
                </a:extLst>
              </p:cNvPr>
              <p:cNvSpPr txBox="1"/>
              <p:nvPr/>
            </p:nvSpPr>
            <p:spPr>
              <a:xfrm>
                <a:off x="4465392" y="5681087"/>
                <a:ext cx="8950816" cy="628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FB0092-2677-49DE-80C6-232F84BB0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392" y="5681087"/>
                <a:ext cx="8950816" cy="6280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9EE8F58-6FE2-4B83-AD01-5735DA174E4F}"/>
                  </a:ext>
                </a:extLst>
              </p:cNvPr>
              <p:cNvSpPr txBox="1"/>
              <p:nvPr/>
            </p:nvSpPr>
            <p:spPr>
              <a:xfrm>
                <a:off x="5945861" y="3896377"/>
                <a:ext cx="89508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9EE8F58-6FE2-4B83-AD01-5735DA174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861" y="3896377"/>
                <a:ext cx="89508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D94044-BA02-42EE-8375-07C25FD39FD6}"/>
                  </a:ext>
                </a:extLst>
              </p:cNvPr>
              <p:cNvSpPr txBox="1"/>
              <p:nvPr/>
            </p:nvSpPr>
            <p:spPr>
              <a:xfrm>
                <a:off x="6886674" y="8563526"/>
                <a:ext cx="89508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D94044-BA02-42EE-8375-07C25FD39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674" y="8563526"/>
                <a:ext cx="8950816" cy="369332"/>
              </a:xfrm>
              <a:prstGeom prst="rect">
                <a:avLst/>
              </a:prstGeom>
              <a:blipFill>
                <a:blip r:embed="rId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E2E29E-2B2D-4B9B-8E96-FCBD8FF18DC4}"/>
                  </a:ext>
                </a:extLst>
              </p:cNvPr>
              <p:cNvSpPr txBox="1"/>
              <p:nvPr/>
            </p:nvSpPr>
            <p:spPr>
              <a:xfrm>
                <a:off x="5325415" y="8932858"/>
                <a:ext cx="8950816" cy="672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E2E29E-2B2D-4B9B-8E96-FCBD8FF18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5415" y="8932858"/>
                <a:ext cx="8950816" cy="6722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096705" y="1239002"/>
            <a:ext cx="13688189" cy="758039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ctr">
              <a:spcAft>
                <a:spcPts val="1932"/>
              </a:spcAft>
            </a:pPr>
            <a:r>
              <a:rPr lang="ru" sz="3221" b="1" dirty="0">
                <a:solidFill>
                  <a:srgbClr val="4F81BD"/>
                </a:solidFill>
                <a:latin typeface="Calibri"/>
              </a:rPr>
              <a:t>Функциональные возможности приложения</a:t>
            </a:r>
          </a:p>
          <a:p>
            <a:pPr>
              <a:lnSpc>
                <a:spcPts val="3203"/>
              </a:lnSpc>
              <a:spcAft>
                <a:spcPts val="967"/>
              </a:spcAft>
            </a:pPr>
            <a:r>
              <a:rPr lang="ru" sz="2761" dirty="0">
                <a:latin typeface="Cambria"/>
              </a:rPr>
              <a:t>Приложение разработано с прицелом на максимальную практическую пользу при решении учебных задач:</a:t>
            </a:r>
          </a:p>
          <a:p>
            <a:pPr marL="409007" algn="just">
              <a:lnSpc>
                <a:spcPts val="3644"/>
              </a:lnSpc>
            </a:pPr>
            <a:r>
              <a:rPr lang="ru" sz="2761" dirty="0">
                <a:latin typeface="Cambria"/>
              </a:rPr>
              <a:t>•</a:t>
            </a:r>
            <a:r>
              <a:rPr lang="ru" sz="2761" b="1" dirty="0">
                <a:latin typeface="Cambria"/>
              </a:rPr>
              <a:t>    Два режима вычислений:</a:t>
            </a:r>
          </a:p>
          <a:p>
            <a:pPr marL="1460745" algn="just">
              <a:lnSpc>
                <a:spcPts val="3644"/>
              </a:lnSpc>
            </a:pPr>
            <a:r>
              <a:rPr lang="ru" sz="2761" dirty="0">
                <a:latin typeface="Cambria"/>
              </a:rPr>
              <a:t>1.    </a:t>
            </a:r>
            <a:r>
              <a:rPr lang="ru" sz="2761" i="1" dirty="0">
                <a:latin typeface="Cambria"/>
              </a:rPr>
              <a:t>Арифметическая прогрессия:</a:t>
            </a:r>
            <a:r>
              <a:rPr lang="ru" sz="2761" dirty="0">
                <a:latin typeface="Cambria"/>
              </a:rPr>
              <a:t> классический линейный расчёт.</a:t>
            </a:r>
          </a:p>
          <a:p>
            <a:pPr marL="1460745" algn="just">
              <a:lnSpc>
                <a:spcPts val="3644"/>
              </a:lnSpc>
            </a:pPr>
            <a:r>
              <a:rPr lang="ru" sz="2761" dirty="0">
                <a:latin typeface="Cambria"/>
              </a:rPr>
              <a:t>2.    </a:t>
            </a:r>
            <a:r>
              <a:rPr lang="ru" sz="2761" i="1" dirty="0">
                <a:latin typeface="Cambria"/>
              </a:rPr>
              <a:t>Геометрическая прогрессия:</a:t>
            </a:r>
            <a:r>
              <a:rPr lang="ru" sz="2761" dirty="0">
                <a:latin typeface="Cambria"/>
              </a:rPr>
              <a:t> расчёт экспоненциального ряда.</a:t>
            </a:r>
          </a:p>
          <a:p>
            <a:pPr marL="1080950" indent="-671943">
              <a:lnSpc>
                <a:spcPts val="3203"/>
              </a:lnSpc>
            </a:pPr>
            <a:r>
              <a:rPr lang="ru" sz="2761" dirty="0">
                <a:latin typeface="Cambria"/>
              </a:rPr>
              <a:t>•</a:t>
            </a:r>
            <a:r>
              <a:rPr lang="ru" sz="2761" b="1" dirty="0">
                <a:latin typeface="Cambria"/>
              </a:rPr>
              <a:t>    Детальный вывод: </a:t>
            </a:r>
            <a:r>
              <a:rPr lang="ru" sz="2761" dirty="0">
                <a:latin typeface="Cambria"/>
              </a:rPr>
              <a:t>программа не просто выдаёт финальное число, а выводит пронумерованный список каждого члена последовательности от 1 до </a:t>
            </a:r>
            <a:r>
              <a:rPr lang="ru" sz="2761" i="1" dirty="0">
                <a:latin typeface="Cambria"/>
              </a:rPr>
              <a:t>п.</a:t>
            </a:r>
          </a:p>
          <a:p>
            <a:pPr marL="1080950" indent="-671943">
              <a:lnSpc>
                <a:spcPts val="3257"/>
              </a:lnSpc>
            </a:pPr>
            <a:r>
              <a:rPr lang="ru" sz="2761" dirty="0">
                <a:latin typeface="Cambria"/>
              </a:rPr>
              <a:t>•</a:t>
            </a:r>
            <a:r>
              <a:rPr lang="ru" sz="2761" b="1" dirty="0">
                <a:latin typeface="Cambria"/>
              </a:rPr>
              <a:t>    Автоматический расчёт итоговой суммы: </a:t>
            </a:r>
            <a:r>
              <a:rPr lang="ru" sz="2761" dirty="0">
                <a:latin typeface="Cambria"/>
              </a:rPr>
              <a:t>моментальное нахождение суммы всех элементов ряда без риска ошибки.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203929" y="612673"/>
            <a:ext cx="9473741" cy="46281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algn="ctr">
              <a:spcAft>
                <a:spcPts val="1932"/>
              </a:spcAft>
            </a:pPr>
            <a:r>
              <a:rPr lang="ru" sz="3221" b="1" dirty="0">
                <a:solidFill>
                  <a:srgbClr val="4F81BD"/>
                </a:solidFill>
                <a:latin typeface="Calibri"/>
              </a:rPr>
              <a:t>Удобство и простота использования</a:t>
            </a:r>
            <a:endParaRPr lang="en-US" sz="3221" b="1" dirty="0">
              <a:solidFill>
                <a:srgbClr val="4F81BD"/>
              </a:solidFill>
              <a:latin typeface="Calibri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079174" y="1459892"/>
            <a:ext cx="14080884" cy="713861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ts val="3203"/>
              </a:lnSpc>
              <a:spcBef>
                <a:spcPts val="1932"/>
              </a:spcBef>
              <a:spcAft>
                <a:spcPts val="967"/>
              </a:spcAft>
            </a:pPr>
            <a:r>
              <a:rPr lang="ru" sz="2761" dirty="0">
                <a:latin typeface="Cambria"/>
              </a:rPr>
              <a:t>Интерфейс программы спроектирован так, чтобы с ней мог работать любой пользователь без предварительного обучения:</a:t>
            </a:r>
          </a:p>
          <a:p>
            <a:pPr marL="1080950" indent="-671943">
              <a:lnSpc>
                <a:spcPts val="3257"/>
              </a:lnSpc>
            </a:pPr>
            <a:r>
              <a:rPr lang="ru" sz="2761" dirty="0">
                <a:latin typeface="Cambria"/>
              </a:rPr>
              <a:t>•</a:t>
            </a:r>
            <a:r>
              <a:rPr lang="ru" sz="2761" b="1" dirty="0">
                <a:latin typeface="Cambria"/>
              </a:rPr>
              <a:t>    Интуитивное управление: </a:t>
            </a:r>
            <a:r>
              <a:rPr lang="ru" sz="2761" dirty="0">
                <a:latin typeface="Cambria"/>
              </a:rPr>
              <a:t>выпадающий список для быстрого выбора типа прогрессии и понятные поля ввода (начальное число, шаг/знаменатель, количество элементов).</a:t>
            </a:r>
          </a:p>
          <a:p>
            <a:pPr marL="1080950" indent="-671943">
              <a:lnSpc>
                <a:spcPts val="3203"/>
              </a:lnSpc>
            </a:pPr>
            <a:r>
              <a:rPr lang="ru" sz="2761" dirty="0">
                <a:latin typeface="Cambria"/>
              </a:rPr>
              <a:t>•</a:t>
            </a:r>
            <a:r>
              <a:rPr lang="ru" sz="2761" b="1" dirty="0">
                <a:latin typeface="Cambria"/>
              </a:rPr>
              <a:t>    Защита от некорректного ввода: </a:t>
            </a:r>
            <a:r>
              <a:rPr lang="ru" sz="2761" dirty="0">
                <a:latin typeface="Cambria"/>
              </a:rPr>
              <a:t>при случайном вводе буквенных символов или пустых строк программа не закрывается со сбоем, а безопасно обрабатывает данные.</a:t>
            </a:r>
          </a:p>
          <a:p>
            <a:pPr marL="1080950" indent="-671943">
              <a:lnSpc>
                <a:spcPts val="3257"/>
              </a:lnSpc>
            </a:pPr>
            <a:r>
              <a:rPr lang="ru" sz="2761" dirty="0">
                <a:latin typeface="Cambria"/>
              </a:rPr>
              <a:t>•</a:t>
            </a:r>
            <a:r>
              <a:rPr lang="ru" sz="2761" b="1" dirty="0">
                <a:latin typeface="Cambria"/>
              </a:rPr>
              <a:t>    Защита результатов: </a:t>
            </a:r>
            <a:r>
              <a:rPr lang="ru" sz="2761" dirty="0">
                <a:latin typeface="Cambria"/>
              </a:rPr>
              <a:t>текстовое поле вывода защищено от случайного изменения пользователем после расчёта.</a:t>
            </a:r>
          </a:p>
          <a:p>
            <a:pPr marL="1080950" indent="-671943">
              <a:lnSpc>
                <a:spcPts val="3257"/>
              </a:lnSpc>
            </a:pPr>
            <a:r>
              <a:rPr lang="ru" sz="2761" dirty="0">
                <a:latin typeface="Cambria"/>
              </a:rPr>
              <a:t>•</a:t>
            </a:r>
            <a:r>
              <a:rPr lang="ru" sz="2761" b="1" dirty="0">
                <a:latin typeface="Cambria"/>
              </a:rPr>
              <a:t>    Работа без консоли: </a:t>
            </a:r>
            <a:r>
              <a:rPr lang="ru" sz="2761" dirty="0">
                <a:latin typeface="Cambria"/>
              </a:rPr>
              <a:t>программа запускается в чистом графическом окне без всплывающей командной строки.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40510" y="1356470"/>
            <a:ext cx="5560827" cy="1325343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just">
              <a:lnSpc>
                <a:spcPts val="3644"/>
              </a:lnSpc>
            </a:pPr>
            <a:r>
              <a:rPr lang="en-US" sz="2761" b="1" dirty="0">
                <a:latin typeface="Cambria"/>
              </a:rPr>
              <a:t>•    </a:t>
            </a:r>
            <a:r>
              <a:rPr lang="ru" sz="2761" b="1" dirty="0">
                <a:latin typeface="Cambria"/>
              </a:rPr>
              <a:t>Начальное значение: 2</a:t>
            </a:r>
          </a:p>
          <a:p>
            <a:pPr algn="just">
              <a:lnSpc>
                <a:spcPts val="3644"/>
              </a:lnSpc>
            </a:pPr>
            <a:r>
              <a:rPr lang="ru" sz="2761" b="1" dirty="0">
                <a:latin typeface="Cambria"/>
              </a:rPr>
              <a:t>•    Шаг / Знаменатель: 3</a:t>
            </a:r>
          </a:p>
          <a:p>
            <a:pPr algn="just">
              <a:lnSpc>
                <a:spcPts val="3644"/>
              </a:lnSpc>
            </a:pPr>
            <a:r>
              <a:rPr lang="ru" sz="2761" b="1" dirty="0">
                <a:latin typeface="Cambria"/>
              </a:rPr>
              <a:t>•    Количество элементов </a:t>
            </a:r>
            <a:r>
              <a:rPr lang="ru" sz="2761" i="1" spc="231" dirty="0">
                <a:latin typeface="Cambria"/>
              </a:rPr>
              <a:t>(п):</a:t>
            </a:r>
            <a:r>
              <a:rPr lang="ru" sz="2761" b="1" dirty="0">
                <a:latin typeface="Cambria"/>
              </a:rPr>
              <a:t> 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40510" y="2679521"/>
            <a:ext cx="9571915" cy="406719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lang="ru" sz="2761" dirty="0">
                <a:latin typeface="Cambria"/>
              </a:rPr>
              <a:t>№ элемента Арифметическая (+3) Геометрическая (х 3)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840510" y="2927315"/>
            <a:ext cx="259459" cy="239122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ts val="4031"/>
              </a:lnSpc>
            </a:pPr>
            <a:r>
              <a:rPr lang="ru" sz="2761" b="1" dirty="0">
                <a:latin typeface="Cambria"/>
              </a:rPr>
              <a:t>1</a:t>
            </a:r>
          </a:p>
          <a:p>
            <a:pPr>
              <a:lnSpc>
                <a:spcPts val="4031"/>
              </a:lnSpc>
            </a:pPr>
            <a:r>
              <a:rPr lang="ru" sz="2761" b="1" dirty="0">
                <a:latin typeface="Cambria"/>
              </a:rPr>
              <a:t>2</a:t>
            </a:r>
          </a:p>
          <a:p>
            <a:pPr>
              <a:lnSpc>
                <a:spcPts val="4031"/>
              </a:lnSpc>
            </a:pPr>
            <a:r>
              <a:rPr lang="ru" sz="2761" b="1" dirty="0">
                <a:latin typeface="Cambria"/>
              </a:rPr>
              <a:t>3</a:t>
            </a:r>
          </a:p>
          <a:p>
            <a:pPr>
              <a:lnSpc>
                <a:spcPts val="4031"/>
              </a:lnSpc>
            </a:pPr>
            <a:r>
              <a:rPr lang="ru" sz="2761" b="1" dirty="0">
                <a:latin typeface="Cambria"/>
              </a:rPr>
              <a:t>4</a:t>
            </a:r>
          </a:p>
          <a:p>
            <a:pPr>
              <a:lnSpc>
                <a:spcPts val="4031"/>
              </a:lnSpc>
            </a:pPr>
            <a:r>
              <a:rPr lang="ru" sz="2761" b="1" dirty="0">
                <a:latin typeface="Cambria"/>
              </a:rPr>
              <a:t>5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382501" y="2954219"/>
            <a:ext cx="476843" cy="2910143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ts val="4031"/>
              </a:lnSpc>
            </a:pPr>
            <a:r>
              <a:rPr lang="ru" sz="2761" b="1" dirty="0">
                <a:latin typeface="Cambria"/>
              </a:rPr>
              <a:t>2</a:t>
            </a:r>
          </a:p>
          <a:p>
            <a:pPr>
              <a:lnSpc>
                <a:spcPts val="4031"/>
              </a:lnSpc>
            </a:pPr>
            <a:r>
              <a:rPr lang="ru" sz="2761" b="1" dirty="0">
                <a:latin typeface="Cambria"/>
              </a:rPr>
              <a:t>5</a:t>
            </a:r>
          </a:p>
          <a:p>
            <a:pPr>
              <a:lnSpc>
                <a:spcPts val="4031"/>
              </a:lnSpc>
            </a:pPr>
            <a:r>
              <a:rPr lang="ru" sz="2761" b="1" dirty="0">
                <a:latin typeface="Cambria"/>
              </a:rPr>
              <a:t>8</a:t>
            </a:r>
          </a:p>
          <a:p>
            <a:pPr>
              <a:lnSpc>
                <a:spcPts val="4031"/>
              </a:lnSpc>
            </a:pPr>
            <a:r>
              <a:rPr lang="ru" sz="2761" b="1" dirty="0">
                <a:latin typeface="Cambria"/>
              </a:rPr>
              <a:t>11</a:t>
            </a:r>
          </a:p>
          <a:p>
            <a:pPr>
              <a:lnSpc>
                <a:spcPts val="4031"/>
              </a:lnSpc>
            </a:pPr>
            <a:r>
              <a:rPr lang="ru" sz="2761" b="1" dirty="0">
                <a:latin typeface="Cambria"/>
              </a:rPr>
              <a:t>14</a:t>
            </a:r>
          </a:p>
          <a:p>
            <a:pPr>
              <a:lnSpc>
                <a:spcPts val="4031"/>
              </a:lnSpc>
            </a:pPr>
            <a:r>
              <a:rPr lang="ru" sz="2761" b="1" dirty="0">
                <a:latin typeface="Cambria"/>
              </a:rPr>
              <a:t>40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404109" y="3086240"/>
            <a:ext cx="652152" cy="2910143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04503">
              <a:lnSpc>
                <a:spcPts val="4031"/>
              </a:lnSpc>
            </a:pPr>
            <a:r>
              <a:rPr lang="ru" sz="2761" b="1" dirty="0">
                <a:latin typeface="Cambria"/>
              </a:rPr>
              <a:t>2</a:t>
            </a:r>
          </a:p>
          <a:p>
            <a:pPr marL="204503">
              <a:lnSpc>
                <a:spcPts val="4031"/>
              </a:lnSpc>
            </a:pPr>
            <a:r>
              <a:rPr lang="ru" sz="2761" b="1" dirty="0">
                <a:latin typeface="Cambria"/>
              </a:rPr>
              <a:t>6</a:t>
            </a:r>
          </a:p>
          <a:p>
            <a:pPr marL="204503">
              <a:lnSpc>
                <a:spcPts val="4031"/>
              </a:lnSpc>
            </a:pPr>
            <a:r>
              <a:rPr lang="ru" sz="2761" b="1" dirty="0">
                <a:latin typeface="Cambria"/>
              </a:rPr>
              <a:t>18</a:t>
            </a:r>
          </a:p>
          <a:p>
            <a:pPr marL="204503">
              <a:lnSpc>
                <a:spcPts val="4031"/>
              </a:lnSpc>
            </a:pPr>
            <a:r>
              <a:rPr lang="ru" sz="2761" b="1" dirty="0">
                <a:latin typeface="Cambria"/>
              </a:rPr>
              <a:t>54</a:t>
            </a:r>
          </a:p>
          <a:p>
            <a:pPr>
              <a:lnSpc>
                <a:spcPts val="4031"/>
              </a:lnSpc>
            </a:pPr>
            <a:r>
              <a:rPr lang="ru" sz="2761" b="1" dirty="0">
                <a:latin typeface="Cambria"/>
              </a:rPr>
              <a:t>162</a:t>
            </a:r>
          </a:p>
          <a:p>
            <a:pPr>
              <a:lnSpc>
                <a:spcPts val="4031"/>
              </a:lnSpc>
            </a:pPr>
            <a:r>
              <a:rPr lang="ru" sz="2761" b="1" dirty="0">
                <a:latin typeface="Cambria"/>
              </a:rPr>
              <a:t>242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6401337" y="1243126"/>
            <a:ext cx="2005544" cy="39970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lang="ru" sz="2761" b="1" dirty="0">
                <a:latin typeface="Cambria"/>
              </a:rPr>
              <a:t>Сумма ряда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840510" y="6768063"/>
            <a:ext cx="14136983" cy="354125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ts val="3203"/>
              </a:lnSpc>
            </a:pPr>
            <a:r>
              <a:rPr lang="ru" sz="2761" b="1" dirty="0">
                <a:latin typeface="Cambria"/>
              </a:rPr>
              <a:t>Вывод по примеру:</a:t>
            </a:r>
          </a:p>
          <a:p>
            <a:pPr>
              <a:lnSpc>
                <a:spcPts val="3203"/>
              </a:lnSpc>
              <a:spcAft>
                <a:spcPts val="967"/>
              </a:spcAft>
            </a:pPr>
            <a:r>
              <a:rPr lang="ru" sz="2761" dirty="0">
                <a:latin typeface="Cambria"/>
              </a:rPr>
              <a:t>Уже на пятом шаге сумма геометрической прогрессии превышает сумму арифметической более чем в 6 раз, что наглядно подтверждает теоретические свойства степенного роста.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5F4A7FE-1361-492F-9FCC-2792F8628534}"/>
              </a:ext>
            </a:extLst>
          </p:cNvPr>
          <p:cNvSpPr/>
          <p:nvPr/>
        </p:nvSpPr>
        <p:spPr>
          <a:xfrm>
            <a:off x="840510" y="206438"/>
            <a:ext cx="13316533" cy="11500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spcBef>
                <a:spcPts val="58935"/>
              </a:spcBef>
              <a:spcAft>
                <a:spcPts val="1932"/>
              </a:spcAft>
            </a:pPr>
            <a:r>
              <a:rPr lang="ru" sz="3221" b="1" dirty="0">
                <a:solidFill>
                  <a:srgbClr val="4F81BD"/>
                </a:solidFill>
                <a:latin typeface="Calibri"/>
              </a:rPr>
              <a:t>Слайд 5. Практический пример работы</a:t>
            </a:r>
          </a:p>
          <a:p>
            <a:r>
              <a:rPr lang="ru" sz="2761" dirty="0">
                <a:latin typeface="Cambria"/>
              </a:rPr>
              <a:t>Сравним поведение последовательностей при одинаковых начальных параметрах: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57554" y="1769628"/>
            <a:ext cx="13793376" cy="772064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just"/>
            <a:r>
              <a:rPr lang="en-US" sz="2761" dirty="0">
                <a:latin typeface="Cambria"/>
              </a:rPr>
              <a:t>•</a:t>
            </a:r>
            <a:r>
              <a:rPr lang="en-US" sz="2761" b="1" dirty="0">
                <a:latin typeface="Cambria"/>
              </a:rPr>
              <a:t>    </a:t>
            </a:r>
            <a:r>
              <a:rPr lang="ru" sz="2761" b="1" dirty="0">
                <a:latin typeface="Cambria"/>
              </a:rPr>
              <a:t>Репозиторий на </a:t>
            </a:r>
            <a:r>
              <a:rPr lang="en-US" sz="2761" b="1" dirty="0">
                <a:latin typeface="Cambria"/>
              </a:rPr>
              <a:t>GitHub:</a:t>
            </a:r>
          </a:p>
          <a:p>
            <a:pPr marL="745563">
              <a:lnSpc>
                <a:spcPts val="2981"/>
              </a:lnSpc>
            </a:pPr>
            <a:r>
              <a:rPr lang="ru" sz="2761" dirty="0">
                <a:latin typeface="Cambria"/>
              </a:rPr>
              <a:t>Исходный код опубликован в открытом доступе: </a:t>
            </a:r>
            <a:r>
              <a:rPr lang="en-US" sz="2761" b="1" dirty="0">
                <a:latin typeface="Calibri"/>
                <a:hlinkClick r:id="rId2"/>
              </a:rPr>
              <a:t>https://github.com/tapeks/Pnognession-calculaton</a:t>
            </a:r>
          </a:p>
          <a:p>
            <a:pPr algn="just"/>
            <a:r>
              <a:rPr lang="ru" sz="2761" dirty="0">
                <a:latin typeface="Cambria"/>
              </a:rPr>
              <a:t>•</a:t>
            </a:r>
            <a:r>
              <a:rPr lang="ru" sz="2761" b="1" dirty="0">
                <a:latin typeface="Cambria"/>
              </a:rPr>
              <a:t>    Как запустить и скачать программу:</a:t>
            </a:r>
          </a:p>
          <a:p>
            <a:pPr marL="1797298" indent="-701157">
              <a:lnSpc>
                <a:spcPts val="3203"/>
              </a:lnSpc>
            </a:pPr>
            <a:r>
              <a:rPr lang="ru" sz="2761" dirty="0">
                <a:latin typeface="Cambria"/>
              </a:rPr>
              <a:t>1.    </a:t>
            </a:r>
            <a:r>
              <a:rPr lang="ru" sz="2761" b="1" dirty="0">
                <a:latin typeface="Cambria"/>
              </a:rPr>
              <a:t>Быстрый запуск готового приложения </a:t>
            </a:r>
            <a:r>
              <a:rPr lang="en-US" sz="2761" b="1" dirty="0">
                <a:latin typeface="Cambria"/>
              </a:rPr>
              <a:t>(.exe): </a:t>
            </a:r>
            <a:r>
              <a:rPr lang="ru" sz="2761" dirty="0">
                <a:latin typeface="Cambria"/>
              </a:rPr>
              <a:t>в разделе </a:t>
            </a:r>
            <a:r>
              <a:rPr lang="en-US" sz="2761" i="1" dirty="0">
                <a:latin typeface="Cambria"/>
              </a:rPr>
              <a:t>Releases</a:t>
            </a:r>
            <a:r>
              <a:rPr lang="en-US" sz="2761" dirty="0">
                <a:latin typeface="Cambria"/>
              </a:rPr>
              <a:t> </a:t>
            </a:r>
            <a:r>
              <a:rPr lang="ru" sz="2761" dirty="0">
                <a:latin typeface="Cambria"/>
              </a:rPr>
              <a:t>на </a:t>
            </a:r>
            <a:r>
              <a:rPr lang="en-US" sz="2761" dirty="0">
                <a:latin typeface="Cambria"/>
              </a:rPr>
              <a:t>GitHub </a:t>
            </a:r>
            <a:r>
              <a:rPr lang="ru" sz="2761" dirty="0">
                <a:latin typeface="Cambria"/>
              </a:rPr>
              <a:t>доступен готовый скомпилированный файл, который запускается в один клик на любом компьютере с </a:t>
            </a:r>
            <a:r>
              <a:rPr lang="en-US" sz="2761" dirty="0">
                <a:latin typeface="Cambria"/>
              </a:rPr>
              <a:t>Windows </a:t>
            </a:r>
            <a:r>
              <a:rPr lang="ru" sz="2761" dirty="0">
                <a:latin typeface="Cambria"/>
              </a:rPr>
              <a:t>(установка </a:t>
            </a:r>
            <a:r>
              <a:rPr lang="en-US" sz="2761" dirty="0">
                <a:latin typeface="Cambria"/>
              </a:rPr>
              <a:t>Python </a:t>
            </a:r>
            <a:r>
              <a:rPr lang="ru" sz="2761" dirty="0">
                <a:latin typeface="Cambria"/>
              </a:rPr>
              <a:t>не требуется).</a:t>
            </a:r>
          </a:p>
          <a:p>
            <a:pPr marL="1797298" indent="-701157">
              <a:lnSpc>
                <a:spcPts val="3257"/>
              </a:lnSpc>
            </a:pPr>
            <a:r>
              <a:rPr lang="ru" sz="2761" dirty="0">
                <a:latin typeface="Cambria"/>
              </a:rPr>
              <a:t>2.    </a:t>
            </a:r>
            <a:r>
              <a:rPr lang="ru" sz="2761" b="1" dirty="0">
                <a:latin typeface="Cambria"/>
              </a:rPr>
              <a:t>Запуск из исходного кода: </a:t>
            </a:r>
            <a:r>
              <a:rPr lang="ru" sz="2761" dirty="0">
                <a:latin typeface="Cambria"/>
              </a:rPr>
              <a:t>для разработчиков и интересующихся код можно склонировать или скачать архивом и запустить через </a:t>
            </a:r>
            <a:r>
              <a:rPr lang="en-US" sz="2761" dirty="0">
                <a:latin typeface="Cambria"/>
              </a:rPr>
              <a:t>Python (python main.py </a:t>
            </a:r>
            <a:r>
              <a:rPr lang="ru" sz="2761" dirty="0">
                <a:latin typeface="Cambria"/>
              </a:rPr>
              <a:t>или </a:t>
            </a:r>
            <a:r>
              <a:rPr lang="en-US" sz="2761" dirty="0" err="1">
                <a:latin typeface="Cambria"/>
              </a:rPr>
              <a:t>main.pyw</a:t>
            </a:r>
            <a:r>
              <a:rPr lang="en-US" sz="2761" dirty="0">
                <a:latin typeface="Cambria"/>
              </a:rPr>
              <a:t>).</a:t>
            </a:r>
          </a:p>
          <a:p>
            <a:pPr marL="745563" indent="-701157">
              <a:lnSpc>
                <a:spcPts val="3257"/>
              </a:lnSpc>
            </a:pPr>
            <a:r>
              <a:rPr lang="ru" sz="2761" dirty="0">
                <a:latin typeface="Cambria"/>
              </a:rPr>
              <a:t>•</a:t>
            </a:r>
            <a:r>
              <a:rPr lang="ru" sz="2761" b="1" dirty="0">
                <a:latin typeface="Cambria"/>
              </a:rPr>
              <a:t>    Автономность: </a:t>
            </a:r>
            <a:r>
              <a:rPr lang="ru" sz="2761" dirty="0">
                <a:latin typeface="Cambria"/>
              </a:rPr>
              <a:t>в исполняемый файл уже вшиты все необходимые компоненты и оригинальная векторная иконка.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180F3BC-6847-4EA1-AF6C-105C0CA0AF02}"/>
              </a:ext>
            </a:extLst>
          </p:cNvPr>
          <p:cNvSpPr/>
          <p:nvPr/>
        </p:nvSpPr>
        <p:spPr>
          <a:xfrm>
            <a:off x="1057554" y="0"/>
            <a:ext cx="13800388" cy="115704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ctr">
              <a:spcBef>
                <a:spcPts val="47341"/>
              </a:spcBef>
              <a:spcAft>
                <a:spcPts val="1932"/>
              </a:spcAft>
            </a:pPr>
            <a:r>
              <a:rPr lang="ru" sz="3221" b="1" dirty="0">
                <a:solidFill>
                  <a:srgbClr val="4F81BD"/>
                </a:solidFill>
                <a:latin typeface="Calibri"/>
              </a:rPr>
              <a:t>Доступность, открытый исходный код и скачивание</a:t>
            </a:r>
          </a:p>
          <a:p>
            <a:r>
              <a:rPr lang="ru" sz="2761" dirty="0">
                <a:latin typeface="Cambria"/>
              </a:rPr>
              <a:t>Проект оформлен как открытое и доступное программное обеспечение </a:t>
            </a:r>
            <a:r>
              <a:rPr lang="en-US" sz="2761" dirty="0">
                <a:latin typeface="Cambria"/>
              </a:rPr>
              <a:t>(Open Source):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875812" y="2311687"/>
            <a:ext cx="14129971" cy="561692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spcAft>
                <a:spcPts val="967"/>
              </a:spcAft>
            </a:pPr>
            <a:r>
              <a:rPr lang="ru" sz="2761" b="1" dirty="0">
                <a:solidFill>
                  <a:srgbClr val="4F81BD"/>
                </a:solidFill>
                <a:latin typeface="Calibri"/>
              </a:rPr>
              <a:t>Основные результаты:</a:t>
            </a:r>
          </a:p>
          <a:p>
            <a:pPr marL="1080950" indent="-671943">
              <a:lnSpc>
                <a:spcPts val="3203"/>
              </a:lnSpc>
            </a:pPr>
            <a:r>
              <a:rPr lang="ru" sz="2761" dirty="0">
                <a:latin typeface="Cambria"/>
              </a:rPr>
              <a:t>1.    </a:t>
            </a:r>
            <a:r>
              <a:rPr lang="ru" sz="2761" b="1" dirty="0">
                <a:latin typeface="Cambria"/>
              </a:rPr>
              <a:t>Решена учебная проблема: </a:t>
            </a:r>
            <a:r>
              <a:rPr lang="ru" sz="2761" dirty="0">
                <a:latin typeface="Cambria"/>
              </a:rPr>
              <a:t>создан быстрый инструмент для проверки сложных домашних заданий и подготовки к экзаменам.</a:t>
            </a:r>
          </a:p>
          <a:p>
            <a:pPr marL="1080950" indent="-671943">
              <a:lnSpc>
                <a:spcPts val="3257"/>
              </a:lnSpc>
            </a:pPr>
            <a:r>
              <a:rPr lang="ru" sz="2761" dirty="0">
                <a:latin typeface="Cambria"/>
              </a:rPr>
              <a:t>2.    </a:t>
            </a:r>
            <a:r>
              <a:rPr lang="ru" sz="2761" b="1" dirty="0">
                <a:latin typeface="Cambria"/>
              </a:rPr>
              <a:t>Обеспечена надёжность: </a:t>
            </a:r>
            <a:r>
              <a:rPr lang="ru" sz="2761" dirty="0">
                <a:latin typeface="Cambria"/>
              </a:rPr>
              <a:t>алгоритм устойчив к ошибкам ввода и пограничным математическим случаям.</a:t>
            </a:r>
          </a:p>
          <a:p>
            <a:pPr marL="1080950" indent="-671943">
              <a:lnSpc>
                <a:spcPts val="3257"/>
              </a:lnSpc>
              <a:spcAft>
                <a:spcPts val="967"/>
              </a:spcAft>
            </a:pPr>
            <a:r>
              <a:rPr lang="ru" sz="2761" dirty="0">
                <a:latin typeface="Cambria"/>
              </a:rPr>
              <a:t>3.    </a:t>
            </a:r>
            <a:r>
              <a:rPr lang="ru" sz="2761" b="1" dirty="0">
                <a:latin typeface="Cambria"/>
              </a:rPr>
              <a:t>Открытость и доступность: </a:t>
            </a:r>
            <a:r>
              <a:rPr lang="ru" sz="2761" dirty="0">
                <a:latin typeface="Cambria"/>
              </a:rPr>
              <a:t>проект размещен на </a:t>
            </a:r>
            <a:r>
              <a:rPr lang="en-US" sz="2761" dirty="0">
                <a:latin typeface="Cambria"/>
              </a:rPr>
              <a:t>GitHub </a:t>
            </a:r>
            <a:r>
              <a:rPr lang="ru" sz="2761" dirty="0">
                <a:latin typeface="Cambria"/>
              </a:rPr>
              <a:t>и готов к загрузке в виде готового . </a:t>
            </a:r>
            <a:r>
              <a:rPr lang="en-US" sz="2761" dirty="0">
                <a:latin typeface="Cambria"/>
              </a:rPr>
              <a:t>exe </a:t>
            </a:r>
            <a:r>
              <a:rPr lang="ru" sz="2761" dirty="0">
                <a:latin typeface="Cambria"/>
              </a:rPr>
              <a:t>приложения.</a:t>
            </a:r>
          </a:p>
          <a:p>
            <a:pPr>
              <a:spcAft>
                <a:spcPts val="1932"/>
              </a:spcAft>
            </a:pPr>
            <a:r>
              <a:rPr lang="ru" sz="2761" b="1" dirty="0">
                <a:latin typeface="Cambria"/>
              </a:rPr>
              <a:t>Спасибо за внимание! Готов ответить на ваши вопросы.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0AF0B4E-C041-4362-B6ED-18D9EEAF246E}"/>
              </a:ext>
            </a:extLst>
          </p:cNvPr>
          <p:cNvSpPr/>
          <p:nvPr/>
        </p:nvSpPr>
        <p:spPr>
          <a:xfrm>
            <a:off x="2233445" y="315461"/>
            <a:ext cx="13414707" cy="156376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ctr">
              <a:spcBef>
                <a:spcPts val="51207"/>
              </a:spcBef>
              <a:spcAft>
                <a:spcPts val="1932"/>
              </a:spcAft>
            </a:pPr>
            <a:r>
              <a:rPr lang="ru" sz="3221" b="1" dirty="0">
                <a:solidFill>
                  <a:srgbClr val="4F81BD"/>
                </a:solidFill>
                <a:latin typeface="Calibri"/>
              </a:rPr>
              <a:t>Заключение и итоги проекта</a:t>
            </a:r>
          </a:p>
          <a:p>
            <a:pPr>
              <a:lnSpc>
                <a:spcPts val="3203"/>
              </a:lnSpc>
            </a:pPr>
            <a:r>
              <a:rPr lang="ru" sz="2761" dirty="0">
                <a:latin typeface="Cambria"/>
              </a:rPr>
              <a:t>В ходе работы над проектом удалось создать завершённый прикладной продукт на стыке двух школьных дисциплин: математики и информатики.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148</TotalTime>
  <Words>763</Words>
  <Application>Microsoft Office PowerPoint</Application>
  <PresentationFormat>Произвольный</PresentationFormat>
  <Paragraphs>88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</vt:lpstr>
      <vt:lpstr>Cambria Math</vt:lpstr>
      <vt:lpstr>Trebuchet MS</vt:lpstr>
      <vt:lpstr>Wingdings 3</vt:lpstr>
      <vt:lpstr>Аспект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Presentation_Calculator_Progression_With_Download</dc:title>
  <dc:subject/>
  <dc:creator>tapeks</dc:creator>
  <cp:keywords/>
  <cp:lastModifiedBy>Тимофей иванов</cp:lastModifiedBy>
  <cp:revision>8</cp:revision>
  <dcterms:modified xsi:type="dcterms:W3CDTF">2026-09-24T18:15:23Z</dcterms:modified>
</cp:coreProperties>
</file>